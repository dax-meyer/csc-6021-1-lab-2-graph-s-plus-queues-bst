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06"/>
  </p:normalViewPr>
  <p:slideViewPr>
    <p:cSldViewPr snapToGrid="0" snapToObjects="1">
      <p:cViewPr varScale="1">
        <p:scale>
          <a:sx n="114" d="100"/>
          <a:sy n="114" d="100"/>
        </p:scale>
        <p:origin x="920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079A49-882B-5048-46AB-F0FA4B3860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F248AC-5FC5-2553-70A9-DB54A045CE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508E93-2741-2D36-7615-0BD3A2A699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D7E7FC-FBB3-8544-6B58-B582167F4E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7D2E3F-395C-90BC-0132-8C454CA6BF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91533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457E02-9716-D642-E428-C66919AE62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2AA90C-788E-6061-1453-E1DAE66A09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9A5369-D7F2-47FC-D1F7-6C8C9A25A1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D0F64C-2317-5875-4E85-D403EB1179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5196F0-C3A4-1B1D-E5EA-DD6399DC1D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27396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05BA4F-1582-12D5-490A-29379FCAE6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250813-15A3-3929-4D34-3815CC4FB5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355670-AABF-E7A7-B9E2-DD778CF779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EFAD34-1C0D-FA83-A15D-81684EB282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B24446-1ADA-4D6A-56F8-9CB7A2508C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35390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F2C43-42C4-F239-55FC-FFFD1A2D28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97A2FA-8057-A1A4-3743-91840DA3CDA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D06D7B-DB67-CF67-7AB5-4EA2532803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25C8CE-36E5-D968-9D22-24EA85704E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6175D3-DB21-CA13-AD36-2455C66F4B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1657DF-4B6E-545B-3171-FA9C5097A4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29909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EDE63F-BCC9-A9E6-8A36-C85D83288A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F624F4-C0A4-BEFE-F454-4435BFAAEF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F2E762-61B9-2495-8B80-0B95B97A0D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4DAB75F-ACE7-94C1-E7A8-C888795876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86914D-D8AD-3091-3DCD-DDB5DFE1C6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32BA053-CBD4-B2A4-9D72-0F6BB5C81D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47E1602-C0E7-88F1-E180-E71FEC9C07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CEDCA60-EC9E-D400-8D4B-884D8FB63E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70809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86611-9E73-2536-140F-6C1F16F033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E2C59B-0893-33E7-BB8B-5DAD57C2A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7ED247B-A40C-A960-A8BC-6E54F1AB13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B0072D-239A-E233-CDB9-3323549786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50037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90167CD-8EC0-BE41-EA4B-B4B995A4F6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E9B9F92-EAAC-8072-4103-309117F852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9B52C6-8B5E-E10B-7986-29225FBEA3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17181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34709A-B363-F8FD-2A73-E61A31CCD0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88F913-EE70-4AF8-8B84-FE032DBB2A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F71DE4-1C0D-45D9-35F1-17B95533E6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51735C-A010-B064-86C2-617B4CA803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B6A401-A001-1C68-E2C5-37C8CA2C1E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2C745B-AE68-978E-CC00-6D43352E1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41256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6820F9-3DAF-989E-11F1-7922999C3D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85EE6DD-FB0E-F2EA-8CE3-63D06CFE5DD0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0AAFF8-61C5-4CF1-C8A2-5F21AF27E3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9CEC5B-138D-5D5A-FFDD-9BC411972C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CC05A4-AB64-7E51-424F-8202670375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2F2565-98BE-7EEF-55DF-FDB483494C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79098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910279-99CA-12C4-2C49-9532B17EFF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BBBD0C0-245C-1810-A30F-0DE1E64297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5015E7-085E-89B1-1638-B0A7F1B2B8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EE6911-C3D5-CEDC-1F42-0B3AF7BD6A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7AEA61-9617-950F-856C-DA2E2C26AA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54778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347C3B0-04EB-F72B-9463-530C9DA5E4F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4BF852-7C9A-5B01-15F4-2B86822757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AC8D1E-48EB-999E-42DE-384A5A6BAB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C16049-1194-2D28-7A2D-6AB5AC7C38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13BE04-1533-3DC7-B004-E88D2D3B9C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85745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460B4B3-78F1-E217-8E54-D454B2BF2C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424A25-082E-2EC2-C42D-CFDF39A91A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864DAC-221E-7EAF-A43C-4D590F84A3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77AC4B-41AC-8EEC-6231-94189805E6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D9F6E2-3D12-71E8-D748-55EA8A7BFC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235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2D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172200"/>
            <a:ext cx="12191695" cy="685800"/>
          </a:xfrm>
          <a:prstGeom prst="rect">
            <a:avLst/>
          </a:prstGeom>
          <a:solidFill>
            <a:srgbClr val="007E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607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Aptos"/>
              </a:rPr>
              <a:t>Graph and Queue Data Structures Working Together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9260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0">
                <a:solidFill>
                  <a:srgbClr val="DCE6EE"/>
                </a:solidFill>
                <a:latin typeface="Aptos"/>
              </a:rPr>
              <a:t>Breadth-First Search, Applications, and Graph-Based Technologies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42976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Aptos"/>
              </a:rPr>
              <a:t>Data Structures and Algorithms II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9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Aptos"/>
              </a:rP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146304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143000"/>
            <a:ext cx="10332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23272B"/>
                </a:solidFill>
                <a:latin typeface="Aptos"/>
              </a:defRPr>
            </a:pPr>
            <a:r>
              <a:t>• Graph and queue data structures are important concepts in computer science because they help programs organize information and solve problems efficiently.</a:t>
            </a:r>
          </a:p>
          <a:p>
            <a:pPr>
              <a:spcAft>
                <a:spcPts val="1800"/>
              </a:spcAft>
              <a:defRPr sz="2100">
                <a:solidFill>
                  <a:srgbClr val="23272B"/>
                </a:solidFill>
                <a:latin typeface="Aptos"/>
              </a:defRPr>
            </a:pPr>
            <a:r>
              <a:t>• A graph represents objects and the relationships between them, while a queue controls the order in which items are processed.</a:t>
            </a:r>
          </a:p>
          <a:p>
            <a:pPr>
              <a:spcAft>
                <a:spcPts val="1800"/>
              </a:spcAft>
              <a:defRPr sz="2100">
                <a:solidFill>
                  <a:srgbClr val="23272B"/>
                </a:solidFill>
                <a:latin typeface="Aptos"/>
              </a:defRPr>
            </a:pPr>
            <a:r>
              <a:t>• One common example of this combination is Breadth-First Search, also known as BFS.</a:t>
            </a:r>
          </a:p>
          <a:p>
            <a:pPr>
              <a:spcAft>
                <a:spcPts val="1800"/>
              </a:spcAft>
              <a:defRPr sz="2100">
                <a:solidFill>
                  <a:srgbClr val="23272B"/>
                </a:solidFill>
                <a:latin typeface="Aptos"/>
              </a:defRPr>
            </a:pPr>
            <a:r>
              <a:t>• This algorithm explores a graph level by level, starting with nearby connections before moving to more distant ones.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492240"/>
            <a:ext cx="10881360" cy="22860"/>
          </a:xfrm>
          <a:prstGeom prst="rect">
            <a:avLst/>
          </a:prstGeom>
          <a:solidFill>
            <a:srgbClr val="007E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6547104"/>
            <a:ext cx="7772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5A626C"/>
                </a:solidFill>
                <a:latin typeface="Aptos"/>
              </a:rPr>
              <a:t>Graph and Queue Data Structures Working Together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9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Aptos"/>
              </a:rPr>
              <a:t>Definition and Organization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146304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143000"/>
            <a:ext cx="10332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100">
                <a:solidFill>
                  <a:srgbClr val="23272B"/>
                </a:solidFill>
                <a:latin typeface="Aptos"/>
              </a:defRPr>
            </a:pPr>
            <a:r>
              <a:t>• A graph is a non-linear data structure consisting of vertices, also called nodes, and edges that connect them.</a:t>
            </a:r>
          </a:p>
          <a:p>
            <a:pPr>
              <a:spcAft>
                <a:spcPts val="1800"/>
              </a:spcAft>
              <a:defRPr sz="2100">
                <a:solidFill>
                  <a:srgbClr val="23272B"/>
                </a:solidFill>
                <a:latin typeface="Aptos"/>
              </a:defRPr>
            </a:pPr>
            <a:r>
              <a:t>• Graphs can be organized using adjacency lists or adjacency matrices, which store information about the connections between nodes.</a:t>
            </a:r>
          </a:p>
          <a:p>
            <a:pPr>
              <a:spcAft>
                <a:spcPts val="1800"/>
              </a:spcAft>
              <a:defRPr sz="2100">
                <a:solidFill>
                  <a:srgbClr val="23272B"/>
                </a:solidFill>
                <a:latin typeface="Aptos"/>
              </a:defRPr>
            </a:pPr>
            <a:r>
              <a:t>• A queue is a linear data structure that follows the First-In, First-Out principle, commonly known as FIFO.</a:t>
            </a:r>
          </a:p>
          <a:p>
            <a:pPr>
              <a:spcAft>
                <a:spcPts val="1800"/>
              </a:spcAft>
              <a:defRPr sz="2100">
                <a:solidFill>
                  <a:srgbClr val="23272B"/>
                </a:solidFill>
                <a:latin typeface="Aptos"/>
              </a:defRPr>
            </a:pPr>
            <a:r>
              <a:t>• This means that the first element added to the queue is the first element removed.</a:t>
            </a:r>
          </a:p>
          <a:p>
            <a:pPr>
              <a:spcAft>
                <a:spcPts val="1800"/>
              </a:spcAft>
              <a:defRPr sz="2100">
                <a:solidFill>
                  <a:srgbClr val="23272B"/>
                </a:solidFill>
                <a:latin typeface="Aptos"/>
              </a:defRPr>
            </a:pPr>
            <a:r>
              <a:t>• When a graph and a queue are combined, each structure performs a different but complementary role.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492240"/>
            <a:ext cx="10881360" cy="22860"/>
          </a:xfrm>
          <a:prstGeom prst="rect">
            <a:avLst/>
          </a:prstGeom>
          <a:solidFill>
            <a:srgbClr val="007E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6547104"/>
            <a:ext cx="7772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5A626C"/>
                </a:solidFill>
                <a:latin typeface="Aptos"/>
              </a:rPr>
              <a:t>Graph and Queue Data Structures Working Together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2CFA072-6BD3-D9C7-A530-49411EAE4E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234" y="5021326"/>
            <a:ext cx="6266985" cy="138734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9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Aptos"/>
              </a:rPr>
              <a:t>How Graphs and Queues Work Together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146304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143000"/>
            <a:ext cx="10332720" cy="29546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100">
                <a:solidFill>
                  <a:srgbClr val="23272B"/>
                </a:solidFill>
                <a:latin typeface="Aptos"/>
              </a:defRPr>
            </a:pPr>
            <a:r>
              <a:rPr dirty="0"/>
              <a:t>• To understand how graphs and queues work together, imagine a social network containing six people named A, B, C, D, </a:t>
            </a:r>
            <a:r>
              <a:rPr lang="en-US" dirty="0"/>
              <a:t> and </a:t>
            </a:r>
            <a:r>
              <a:rPr dirty="0"/>
              <a:t>E.</a:t>
            </a:r>
          </a:p>
          <a:p>
            <a:pPr>
              <a:spcAft>
                <a:spcPts val="1800"/>
              </a:spcAft>
              <a:defRPr sz="2100">
                <a:solidFill>
                  <a:srgbClr val="23272B"/>
                </a:solidFill>
                <a:latin typeface="Aptos"/>
              </a:defRPr>
            </a:pPr>
            <a:r>
              <a:rPr dirty="0"/>
              <a:t>• Each person represents a node, and every connection represents an edge in the graph.</a:t>
            </a:r>
          </a:p>
          <a:p>
            <a:pPr>
              <a:spcAft>
                <a:spcPts val="1800"/>
              </a:spcAft>
              <a:defRPr sz="2100">
                <a:solidFill>
                  <a:srgbClr val="23272B"/>
                </a:solidFill>
                <a:latin typeface="Aptos"/>
              </a:defRPr>
            </a:pPr>
            <a:r>
              <a:rPr dirty="0"/>
              <a:t>• Suppose a program needs to find person </a:t>
            </a:r>
            <a:r>
              <a:rPr lang="en-US" dirty="0"/>
              <a:t>E</a:t>
            </a:r>
            <a:r>
              <a:rPr dirty="0"/>
              <a:t>, starting from person A.</a:t>
            </a:r>
          </a:p>
          <a:p>
            <a:pPr>
              <a:spcAft>
                <a:spcPts val="1800"/>
              </a:spcAft>
              <a:defRPr sz="2100">
                <a:solidFill>
                  <a:srgbClr val="23272B"/>
                </a:solidFill>
                <a:latin typeface="Aptos"/>
              </a:defRPr>
            </a:pPr>
            <a:r>
              <a:rPr dirty="0"/>
              <a:t>• The program begins by placing A into the queue and marking it as visited.</a:t>
            </a:r>
          </a:p>
          <a:p>
            <a:pPr>
              <a:spcAft>
                <a:spcPts val="1800"/>
              </a:spcAft>
              <a:defRPr sz="2100">
                <a:solidFill>
                  <a:srgbClr val="23272B"/>
                </a:solidFill>
                <a:latin typeface="Aptos"/>
              </a:defRPr>
            </a:pPr>
            <a:r>
              <a:rPr dirty="0"/>
              <a:t>• Next, the program processes B and discovers D.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492240"/>
            <a:ext cx="10881360" cy="22860"/>
          </a:xfrm>
          <a:prstGeom prst="rect">
            <a:avLst/>
          </a:prstGeom>
          <a:solidFill>
            <a:srgbClr val="007E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6547104"/>
            <a:ext cx="7772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5A626C"/>
                </a:solidFill>
                <a:latin typeface="Aptos"/>
              </a:rPr>
              <a:t>Graph and Queue Data Structures Working Together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5BB9A13-7559-3448-9845-4CD2DDB67A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5923" y="4158856"/>
            <a:ext cx="3439686" cy="227218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9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Aptos"/>
              </a:rPr>
              <a:t>Important 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146304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143000"/>
            <a:ext cx="10332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100">
                <a:solidFill>
                  <a:srgbClr val="23272B"/>
                </a:solidFill>
                <a:latin typeface="Aptos"/>
              </a:defRPr>
            </a:pPr>
            <a:r>
              <a:t>• Graph and queue systems rely on several operations to manage information and process nodes efficiently.</a:t>
            </a:r>
          </a:p>
          <a:p>
            <a:pPr>
              <a:spcAft>
                <a:spcPts val="1800"/>
              </a:spcAft>
              <a:defRPr sz="2100">
                <a:solidFill>
                  <a:srgbClr val="23272B"/>
                </a:solidFill>
                <a:latin typeface="Aptos"/>
              </a:defRPr>
            </a:pPr>
            <a:r>
              <a:t>• Graph operations include adding nodes, adding edges, removing connections, and finding neighboring nodes.</a:t>
            </a:r>
          </a:p>
          <a:p>
            <a:pPr>
              <a:spcAft>
                <a:spcPts val="1800"/>
              </a:spcAft>
              <a:defRPr sz="2100">
                <a:solidFill>
                  <a:srgbClr val="23272B"/>
                </a:solidFill>
                <a:latin typeface="Aptos"/>
              </a:defRPr>
            </a:pPr>
            <a:r>
              <a:t>• Queue operations control the order in which discovered nodes are processed.</a:t>
            </a:r>
          </a:p>
          <a:p>
            <a:pPr>
              <a:spcAft>
                <a:spcPts val="1800"/>
              </a:spcAft>
              <a:defRPr sz="2100">
                <a:solidFill>
                  <a:srgbClr val="23272B"/>
                </a:solidFill>
                <a:latin typeface="Aptos"/>
              </a:defRPr>
            </a:pPr>
            <a:r>
              <a:t>• Enqueue adds an element to the back of the queue, while dequeue removes the element at the front.</a:t>
            </a:r>
          </a:p>
          <a:p>
            <a:pPr>
              <a:spcAft>
                <a:spcPts val="1800"/>
              </a:spcAft>
              <a:defRPr sz="2100">
                <a:solidFill>
                  <a:srgbClr val="23272B"/>
                </a:solidFill>
                <a:latin typeface="Aptos"/>
              </a:defRPr>
            </a:pPr>
            <a:r>
              <a:t>• These operations work together during graph traversal.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492240"/>
            <a:ext cx="10881360" cy="22860"/>
          </a:xfrm>
          <a:prstGeom prst="rect">
            <a:avLst/>
          </a:prstGeom>
          <a:solidFill>
            <a:srgbClr val="007E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6547104"/>
            <a:ext cx="7772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5A626C"/>
                </a:solidFill>
                <a:latin typeface="Aptos"/>
              </a:rPr>
              <a:t>Graph and Queue Data Structures Working Together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9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Aptos"/>
              </a:rPr>
              <a:t>Breadth-First Search (BFS)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146304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143000"/>
            <a:ext cx="10332720" cy="33701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100">
                <a:solidFill>
                  <a:srgbClr val="23272B"/>
                </a:solidFill>
                <a:latin typeface="Aptos"/>
              </a:defRPr>
            </a:pPr>
            <a:r>
              <a:rPr dirty="0"/>
              <a:t>• Instead of following one path as far as possible, BFS examines nearby nodes first before moving to the next level of the graph.</a:t>
            </a:r>
          </a:p>
          <a:p>
            <a:pPr>
              <a:spcAft>
                <a:spcPts val="1800"/>
              </a:spcAft>
              <a:defRPr sz="2100">
                <a:solidFill>
                  <a:srgbClr val="23272B"/>
                </a:solidFill>
                <a:latin typeface="Aptos"/>
              </a:defRPr>
            </a:pPr>
            <a:r>
              <a:rPr dirty="0"/>
              <a:t>• The algorithm begins by selecting a starting node, marking it as visited, and adding it to the queue.</a:t>
            </a:r>
          </a:p>
          <a:p>
            <a:pPr>
              <a:spcAft>
                <a:spcPts val="1800"/>
              </a:spcAft>
              <a:defRPr sz="2100">
                <a:solidFill>
                  <a:srgbClr val="23272B"/>
                </a:solidFill>
                <a:latin typeface="Aptos"/>
              </a:defRPr>
            </a:pPr>
            <a:r>
              <a:rPr dirty="0"/>
              <a:t>• The program then removes the node at the front of the queue and examines all its neighbors.</a:t>
            </a:r>
          </a:p>
          <a:p>
            <a:pPr>
              <a:spcAft>
                <a:spcPts val="1800"/>
              </a:spcAft>
              <a:defRPr sz="2100">
                <a:solidFill>
                  <a:srgbClr val="23272B"/>
                </a:solidFill>
                <a:latin typeface="Aptos"/>
              </a:defRPr>
            </a:pPr>
            <a:r>
              <a:rPr dirty="0"/>
              <a:t>• A visited set is important because graphs can contain cycles and multiple paths leading to the same node.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492240"/>
            <a:ext cx="10881360" cy="22860"/>
          </a:xfrm>
          <a:prstGeom prst="rect">
            <a:avLst/>
          </a:prstGeom>
          <a:solidFill>
            <a:srgbClr val="007E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6547104"/>
            <a:ext cx="7772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5A626C"/>
                </a:solidFill>
                <a:latin typeface="Aptos"/>
              </a:rPr>
              <a:t>Graph and Queue Data Structures Working Together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9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Aptos"/>
              </a:rPr>
              <a:t>Time Complexity and Space Requirements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146304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143000"/>
            <a:ext cx="1033272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100">
                <a:solidFill>
                  <a:srgbClr val="23272B"/>
                </a:solidFill>
                <a:latin typeface="Aptos"/>
              </a:defRPr>
            </a:pPr>
            <a:r>
              <a:rPr sz="2100" dirty="0"/>
              <a:t>• The efficiency of graph traversal can be measured using time complexity and space complexity.</a:t>
            </a:r>
          </a:p>
          <a:p>
            <a:pPr>
              <a:spcAft>
                <a:spcPts val="1800"/>
              </a:spcAft>
              <a:defRPr sz="1800">
                <a:solidFill>
                  <a:srgbClr val="23272B"/>
                </a:solidFill>
                <a:latin typeface="Aptos"/>
              </a:defRPr>
            </a:pPr>
            <a:r>
              <a:rPr sz="2100" dirty="0"/>
              <a:t>• Let V represent the number of vertices in a graph and E represent the number of edges.</a:t>
            </a:r>
          </a:p>
          <a:p>
            <a:pPr>
              <a:spcAft>
                <a:spcPts val="1800"/>
              </a:spcAft>
              <a:defRPr sz="2100">
                <a:solidFill>
                  <a:srgbClr val="23272B"/>
                </a:solidFill>
                <a:latin typeface="Aptos"/>
              </a:defRPr>
            </a:pPr>
            <a:r>
              <a:rPr sz="2100" dirty="0"/>
              <a:t>• With an adjacency-list representation and a suitable queue implementation, Breadth-First Search has a time complexity of O(V + E).</a:t>
            </a:r>
          </a:p>
          <a:p>
            <a:pPr>
              <a:spcAft>
                <a:spcPts val="1800"/>
              </a:spcAft>
              <a:defRPr sz="2100">
                <a:solidFill>
                  <a:srgbClr val="23272B"/>
                </a:solidFill>
                <a:latin typeface="Aptos"/>
              </a:defRPr>
            </a:pPr>
            <a:r>
              <a:rPr sz="2100" dirty="0"/>
              <a:t>• Queue operations such as enqueue, dequeue, and peek can take O(1) time with an appropriate implementation.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492240"/>
            <a:ext cx="10881360" cy="22860"/>
          </a:xfrm>
          <a:prstGeom prst="rect">
            <a:avLst/>
          </a:prstGeom>
          <a:solidFill>
            <a:srgbClr val="007E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6547104"/>
            <a:ext cx="7772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5A626C"/>
                </a:solidFill>
                <a:latin typeface="Aptos"/>
              </a:rPr>
              <a:t>Graph and Queue Data Structures Working Together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9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Aptos"/>
              </a:rPr>
              <a:t>Advantages and 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146304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FFFFFF"/>
                </a:solidFill>
                <a:latin typeface="Aptos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143000"/>
            <a:ext cx="10332720" cy="32778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100">
                <a:solidFill>
                  <a:srgbClr val="23272B"/>
                </a:solidFill>
                <a:latin typeface="Aptos"/>
              </a:defRPr>
            </a:pPr>
            <a:r>
              <a:rPr dirty="0"/>
              <a:t>• Combining graphs and queues provides several advantages.</a:t>
            </a:r>
          </a:p>
          <a:p>
            <a:pPr>
              <a:spcAft>
                <a:spcPts val="1800"/>
              </a:spcAft>
              <a:defRPr sz="2100">
                <a:solidFill>
                  <a:srgbClr val="23272B"/>
                </a:solidFill>
                <a:latin typeface="Aptos"/>
              </a:defRPr>
            </a:pPr>
            <a:r>
              <a:rPr dirty="0"/>
              <a:t>• One major benefit is efficient traversal because BFS can examine an entire graph in </a:t>
            </a:r>
            <a:r>
              <a:rPr lang="en-US" dirty="0"/>
              <a:t> </a:t>
            </a:r>
            <a:r>
              <a:rPr dirty="0"/>
              <a:t>O(V + E) time when adjacency lists are used.</a:t>
            </a:r>
          </a:p>
          <a:p>
            <a:pPr>
              <a:spcAft>
                <a:spcPts val="1800"/>
              </a:spcAft>
              <a:defRPr sz="2100">
                <a:solidFill>
                  <a:srgbClr val="23272B"/>
                </a:solidFill>
                <a:latin typeface="Aptos"/>
              </a:defRPr>
            </a:pPr>
            <a:r>
              <a:rPr dirty="0"/>
              <a:t>• Another advantage is the ability to handle cycles and repeated connections.</a:t>
            </a:r>
          </a:p>
          <a:p>
            <a:pPr>
              <a:spcAft>
                <a:spcPts val="1800"/>
              </a:spcAft>
              <a:defRPr sz="2100">
                <a:solidFill>
                  <a:srgbClr val="23272B"/>
                </a:solidFill>
                <a:latin typeface="Aptos"/>
              </a:defRPr>
            </a:pPr>
            <a:r>
              <a:rPr dirty="0"/>
              <a:t>• By maintaining a visited set, the algorithm avoids processing the same node multiple times.</a:t>
            </a:r>
          </a:p>
          <a:p>
            <a:pPr>
              <a:spcAft>
                <a:spcPts val="1800"/>
              </a:spcAft>
              <a:defRPr sz="2100">
                <a:solidFill>
                  <a:srgbClr val="23272B"/>
                </a:solidFill>
                <a:latin typeface="Aptos"/>
              </a:defRPr>
            </a:pPr>
            <a:r>
              <a:rPr dirty="0"/>
              <a:t>• However, this combination also has limitations.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492240"/>
            <a:ext cx="10881360" cy="22860"/>
          </a:xfrm>
          <a:prstGeom prst="rect">
            <a:avLst/>
          </a:prstGeom>
          <a:solidFill>
            <a:srgbClr val="007E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6547104"/>
            <a:ext cx="7772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5A626C"/>
                </a:solidFill>
                <a:latin typeface="Aptos"/>
              </a:rPr>
              <a:t>Graph and Queue Data Structures Working Together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9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Aptos"/>
              </a:rPr>
              <a:t>Real-World Applications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146304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FFFFFF"/>
                </a:solidFill>
                <a:latin typeface="Aptos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143000"/>
            <a:ext cx="1033272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100">
                <a:solidFill>
                  <a:srgbClr val="23272B"/>
                </a:solidFill>
                <a:latin typeface="Aptos"/>
              </a:defRPr>
            </a:pPr>
            <a:r>
              <a:rPr dirty="0"/>
              <a:t>• In navigation systems, graphs represent roads and intersections, allowing algorithms to explore possible routes between locations.</a:t>
            </a:r>
          </a:p>
          <a:p>
            <a:pPr>
              <a:spcAft>
                <a:spcPts val="1800"/>
              </a:spcAft>
              <a:defRPr sz="2100">
                <a:solidFill>
                  <a:srgbClr val="23272B"/>
                </a:solidFill>
                <a:latin typeface="Aptos"/>
              </a:defRPr>
            </a:pPr>
            <a:r>
              <a:rPr dirty="0"/>
              <a:t>• Cybersecurity systems can use graphs to represent accounts, devices, transactions, and other related entities.</a:t>
            </a:r>
          </a:p>
          <a:p>
            <a:pPr>
              <a:spcAft>
                <a:spcPts val="1800"/>
              </a:spcAft>
              <a:defRPr sz="1800">
                <a:solidFill>
                  <a:srgbClr val="23272B"/>
                </a:solidFill>
                <a:latin typeface="Aptos"/>
              </a:defRPr>
            </a:pPr>
            <a:r>
              <a:rPr dirty="0"/>
              <a:t>• </a:t>
            </a:r>
            <a:r>
              <a:rPr sz="2100" dirty="0"/>
              <a:t>Robotics applications can also represent locations and possible movements as graphs, allowing pathfinding algorithms to explore routes through an environment.</a:t>
            </a:r>
          </a:p>
          <a:p>
            <a:pPr>
              <a:spcAft>
                <a:spcPts val="1800"/>
              </a:spcAft>
              <a:defRPr sz="2100">
                <a:solidFill>
                  <a:srgbClr val="23272B"/>
                </a:solidFill>
                <a:latin typeface="Aptos"/>
              </a:defRPr>
            </a:pPr>
            <a:r>
              <a:rPr dirty="0"/>
              <a:t>• Another important area is generative artificial intelligence.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492240"/>
            <a:ext cx="10881360" cy="22860"/>
          </a:xfrm>
          <a:prstGeom prst="rect">
            <a:avLst/>
          </a:prstGeom>
          <a:solidFill>
            <a:srgbClr val="007E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6547104"/>
            <a:ext cx="7772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5A626C"/>
                </a:solidFill>
                <a:latin typeface="Aptos"/>
              </a:rPr>
              <a:t>Graph and Queue Data Structures Working Together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9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Aptos"/>
              </a:rPr>
              <a:t>Navigation and Route Planning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146304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FFFFFF"/>
                </a:solidFill>
                <a:latin typeface="Aptos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143000"/>
            <a:ext cx="10332720" cy="39241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100">
                <a:solidFill>
                  <a:srgbClr val="23272B"/>
                </a:solidFill>
                <a:latin typeface="Aptos"/>
              </a:defRPr>
            </a:pPr>
            <a:r>
              <a:rPr sz="2100" dirty="0"/>
              <a:t>• Navigation systems can represent road networks as graphs, where intersections and destinations are nodes and roads are edges.</a:t>
            </a:r>
          </a:p>
          <a:p>
            <a:pPr>
              <a:spcAft>
                <a:spcPts val="1800"/>
              </a:spcAft>
              <a:defRPr sz="1800">
                <a:solidFill>
                  <a:srgbClr val="23272B"/>
                </a:solidFill>
                <a:latin typeface="Aptos"/>
              </a:defRPr>
            </a:pPr>
            <a:r>
              <a:rPr sz="2100" dirty="0"/>
              <a:t>• Breadth-First Search can explore a road network by starting at one intersection and examining its neighboring intersections before moving farther away.</a:t>
            </a:r>
          </a:p>
          <a:p>
            <a:pPr>
              <a:spcAft>
                <a:spcPts val="1800"/>
              </a:spcAft>
              <a:defRPr sz="2100">
                <a:solidFill>
                  <a:srgbClr val="23272B"/>
                </a:solidFill>
                <a:latin typeface="Aptos"/>
              </a:defRPr>
            </a:pPr>
            <a:r>
              <a:rPr sz="2100" dirty="0"/>
              <a:t>• The queue stores the locations waiting to be explored, while the graph provides the available connections.</a:t>
            </a:r>
          </a:p>
          <a:p>
            <a:pPr>
              <a:spcAft>
                <a:spcPts val="1800"/>
              </a:spcAft>
              <a:defRPr sz="2100">
                <a:solidFill>
                  <a:srgbClr val="23272B"/>
                </a:solidFill>
                <a:latin typeface="Aptos"/>
              </a:defRPr>
            </a:pPr>
            <a:r>
              <a:rPr sz="2100" dirty="0"/>
              <a:t>• However, real road networks are more complicated because roads have different lengths and travel times.</a:t>
            </a:r>
          </a:p>
          <a:p>
            <a:pPr>
              <a:spcAft>
                <a:spcPts val="1800"/>
              </a:spcAft>
              <a:defRPr sz="2100">
                <a:solidFill>
                  <a:srgbClr val="23272B"/>
                </a:solidFill>
                <a:latin typeface="Aptos"/>
              </a:defRPr>
            </a:pPr>
            <a:r>
              <a:rPr sz="2100" dirty="0"/>
              <a:t>• The route with the fewest road segments may not be the shortest or fastest route.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492240"/>
            <a:ext cx="10881360" cy="22860"/>
          </a:xfrm>
          <a:prstGeom prst="rect">
            <a:avLst/>
          </a:prstGeom>
          <a:solidFill>
            <a:srgbClr val="007E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6547104"/>
            <a:ext cx="7772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5A626C"/>
                </a:solidFill>
                <a:latin typeface="Aptos"/>
              </a:rPr>
              <a:t>Graph and Queue Data Structures Working Together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9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Aptos"/>
              </a:rPr>
              <a:t>Cybersecurity and Fraud Detection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146304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FFFFFF"/>
                </a:solidFill>
                <a:latin typeface="Aptos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143000"/>
            <a:ext cx="10332720" cy="39241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23272B"/>
                </a:solidFill>
                <a:latin typeface="Aptos"/>
              </a:defRPr>
            </a:pPr>
            <a:r>
              <a:rPr sz="2100" dirty="0"/>
              <a:t>• Cybersecurity and fraud detection are important areas where graph technology can help identify relationships that might otherwise be difficult to recognize.</a:t>
            </a:r>
          </a:p>
          <a:p>
            <a:pPr>
              <a:spcAft>
                <a:spcPts val="1800"/>
              </a:spcAft>
              <a:defRPr sz="2100">
                <a:solidFill>
                  <a:srgbClr val="23272B"/>
                </a:solidFill>
                <a:latin typeface="Aptos"/>
              </a:defRPr>
            </a:pPr>
            <a:r>
              <a:rPr sz="2100" dirty="0"/>
              <a:t>• A graph can represent bank accounts, customers, computers, mobile devices, and financial transactions as nodes.</a:t>
            </a:r>
          </a:p>
          <a:p>
            <a:pPr>
              <a:spcAft>
                <a:spcPts val="1800"/>
              </a:spcAft>
              <a:defRPr sz="2100">
                <a:solidFill>
                  <a:srgbClr val="23272B"/>
                </a:solidFill>
                <a:latin typeface="Aptos"/>
              </a:defRPr>
            </a:pPr>
            <a:r>
              <a:rPr sz="2100" dirty="0"/>
              <a:t>• Suppose a financial institution identifies an account associated with suspicious transactions.</a:t>
            </a:r>
          </a:p>
          <a:p>
            <a:pPr>
              <a:spcAft>
                <a:spcPts val="1800"/>
              </a:spcAft>
              <a:defRPr sz="2100">
                <a:solidFill>
                  <a:srgbClr val="23272B"/>
                </a:solidFill>
                <a:latin typeface="Aptos"/>
              </a:defRPr>
            </a:pPr>
            <a:r>
              <a:rPr sz="2100" dirty="0"/>
              <a:t>• A graph-search algorithm can begin at that account and explore its direct connections.</a:t>
            </a:r>
          </a:p>
          <a:p>
            <a:pPr>
              <a:spcAft>
                <a:spcPts val="1800"/>
              </a:spcAft>
              <a:defRPr sz="2100">
                <a:solidFill>
                  <a:srgbClr val="23272B"/>
                </a:solidFill>
                <a:latin typeface="Aptos"/>
              </a:defRPr>
            </a:pPr>
            <a:r>
              <a:rPr sz="2100" dirty="0"/>
              <a:t>• Neo4j is an example of a company that provides graph database technology for applications such as fraud detection and relationship analysis.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492240"/>
            <a:ext cx="10881360" cy="22860"/>
          </a:xfrm>
          <a:prstGeom prst="rect">
            <a:avLst/>
          </a:prstGeom>
          <a:solidFill>
            <a:srgbClr val="007E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6547104"/>
            <a:ext cx="7772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5A626C"/>
                </a:solidFill>
                <a:latin typeface="Aptos"/>
              </a:rPr>
              <a:t>Graph and Queue Data Structures Working Together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9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Aptos"/>
              </a:rPr>
              <a:t>Social Networks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146304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FFFFFF"/>
                </a:solidFill>
                <a:latin typeface="Aptos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143000"/>
            <a:ext cx="10332720" cy="36009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100">
                <a:solidFill>
                  <a:srgbClr val="23272B"/>
                </a:solidFill>
                <a:latin typeface="Aptos"/>
              </a:defRPr>
            </a:pPr>
            <a:r>
              <a:rPr sz="2100" dirty="0"/>
              <a:t>• Social networks are another example of how graphs and queues can work together.</a:t>
            </a:r>
          </a:p>
          <a:p>
            <a:pPr>
              <a:spcAft>
                <a:spcPts val="1800"/>
              </a:spcAft>
              <a:defRPr sz="2100">
                <a:solidFill>
                  <a:srgbClr val="23272B"/>
                </a:solidFill>
                <a:latin typeface="Aptos"/>
              </a:defRPr>
            </a:pPr>
            <a:r>
              <a:rPr sz="2100" dirty="0"/>
              <a:t>• BFS can begin at a selected user and explore their direct connections first.</a:t>
            </a:r>
          </a:p>
          <a:p>
            <a:pPr>
              <a:spcAft>
                <a:spcPts val="1800"/>
              </a:spcAft>
              <a:defRPr sz="2100">
                <a:solidFill>
                  <a:srgbClr val="23272B"/>
                </a:solidFill>
                <a:latin typeface="Aptos"/>
              </a:defRPr>
            </a:pPr>
            <a:r>
              <a:rPr sz="2100" dirty="0"/>
              <a:t>• This process continues outward through the network, with the queue controlling which discovered user is examined next.</a:t>
            </a:r>
          </a:p>
          <a:p>
            <a:pPr>
              <a:spcAft>
                <a:spcPts val="1800"/>
              </a:spcAft>
              <a:defRPr sz="2100">
                <a:solidFill>
                  <a:srgbClr val="23272B"/>
                </a:solidFill>
                <a:latin typeface="Aptos"/>
              </a:defRPr>
            </a:pPr>
            <a:r>
              <a:rPr sz="2100" dirty="0"/>
              <a:t>• This technique can help demonstrate how shortest connection paths are found between users.</a:t>
            </a:r>
          </a:p>
          <a:p>
            <a:pPr>
              <a:spcAft>
                <a:spcPts val="1800"/>
              </a:spcAft>
              <a:defRPr sz="1800">
                <a:solidFill>
                  <a:srgbClr val="23272B"/>
                </a:solidFill>
                <a:latin typeface="Aptos"/>
              </a:defRPr>
            </a:pPr>
            <a:r>
              <a:rPr sz="2100" dirty="0"/>
              <a:t>• For example, if two people are connected through several mutual relationships, BFS can identify a path containing the fewest edges in an unweighted network.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492240"/>
            <a:ext cx="10881360" cy="22860"/>
          </a:xfrm>
          <a:prstGeom prst="rect">
            <a:avLst/>
          </a:prstGeom>
          <a:solidFill>
            <a:srgbClr val="007E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6547104"/>
            <a:ext cx="7772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5A626C"/>
                </a:solidFill>
                <a:latin typeface="Aptos"/>
              </a:rPr>
              <a:t>Graph and Queue Data Structures Working Together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9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Aptos"/>
              </a:rPr>
              <a:t>Robotics and Pathfinding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146304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FFFFFF"/>
                </a:solidFill>
                <a:latin typeface="Aptos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143000"/>
            <a:ext cx="10332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100">
                <a:solidFill>
                  <a:srgbClr val="23272B"/>
                </a:solidFill>
                <a:latin typeface="Aptos"/>
              </a:defRPr>
            </a:pPr>
            <a:r>
              <a:t>• Robotics is another field in which graphs and queues can support navigation and pathfinding.</a:t>
            </a:r>
          </a:p>
          <a:p>
            <a:pPr>
              <a:spcAft>
                <a:spcPts val="1800"/>
              </a:spcAft>
              <a:defRPr sz="2100">
                <a:solidFill>
                  <a:srgbClr val="23272B"/>
                </a:solidFill>
                <a:latin typeface="Aptos"/>
              </a:defRPr>
            </a:pPr>
            <a:r>
              <a:t>• A graph can model this environment by representing locations as nodes and available movements as edges.</a:t>
            </a:r>
          </a:p>
          <a:p>
            <a:pPr>
              <a:spcAft>
                <a:spcPts val="1800"/>
              </a:spcAft>
              <a:defRPr sz="2100">
                <a:solidFill>
                  <a:srgbClr val="23272B"/>
                </a:solidFill>
                <a:latin typeface="Aptos"/>
              </a:defRPr>
            </a:pPr>
            <a:r>
              <a:t>• Imagine a warehouse robot that needs to travel from a charging station to a shelf containing an item.</a:t>
            </a:r>
          </a:p>
          <a:p>
            <a:pPr>
              <a:spcAft>
                <a:spcPts val="1800"/>
              </a:spcAft>
              <a:defRPr sz="2100">
                <a:solidFill>
                  <a:srgbClr val="23272B"/>
                </a:solidFill>
                <a:latin typeface="Aptos"/>
              </a:defRPr>
            </a:pPr>
            <a:r>
              <a:t>• If the graph is unweighted, BFS can search for a route containing the fewest edges.</a:t>
            </a:r>
          </a:p>
          <a:p>
            <a:pPr>
              <a:spcAft>
                <a:spcPts val="1800"/>
              </a:spcAft>
              <a:defRPr sz="2100">
                <a:solidFill>
                  <a:srgbClr val="23272B"/>
                </a:solidFill>
                <a:latin typeface="Aptos"/>
              </a:defRPr>
            </a:pPr>
            <a:r>
              <a:t>• The queue stores locations that have been discovered but have not yet been examined.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492240"/>
            <a:ext cx="10881360" cy="22860"/>
          </a:xfrm>
          <a:prstGeom prst="rect">
            <a:avLst/>
          </a:prstGeom>
          <a:solidFill>
            <a:srgbClr val="007E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6547104"/>
            <a:ext cx="7772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5A626C"/>
                </a:solidFill>
                <a:latin typeface="Aptos"/>
              </a:rPr>
              <a:t>Graph and Queue Data Structures Working Together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9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Aptos"/>
              </a:rPr>
              <a:t>Emerging Technology: Generative Artificial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146304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FFFFFF"/>
                </a:solidFill>
                <a:latin typeface="Aptos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143000"/>
            <a:ext cx="10332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100">
                <a:solidFill>
                  <a:srgbClr val="23272B"/>
                </a:solidFill>
                <a:latin typeface="Aptos"/>
              </a:defRPr>
            </a:pPr>
            <a:r>
              <a:rPr dirty="0"/>
              <a:t>• Generative artificial intelligence is a growing field in which computer systems create content such as text, images, code, and summaries.</a:t>
            </a:r>
          </a:p>
          <a:p>
            <a:pPr>
              <a:spcAft>
                <a:spcPts val="1800"/>
              </a:spcAft>
              <a:defRPr sz="2100">
                <a:solidFill>
                  <a:srgbClr val="23272B"/>
                </a:solidFill>
                <a:latin typeface="Aptos"/>
              </a:defRPr>
            </a:pPr>
            <a:r>
              <a:rPr dirty="0"/>
              <a:t>• However, many applications also need access to external information and relationships between facts.</a:t>
            </a:r>
          </a:p>
          <a:p>
            <a:pPr>
              <a:spcAft>
                <a:spcPts val="1800"/>
              </a:spcAft>
              <a:defRPr sz="2100">
                <a:solidFill>
                  <a:srgbClr val="23272B"/>
                </a:solidFill>
                <a:latin typeface="Aptos"/>
              </a:defRPr>
            </a:pPr>
            <a:r>
              <a:rPr dirty="0"/>
              <a:t>• Knowledge graphs can help organize this information.</a:t>
            </a:r>
          </a:p>
          <a:p>
            <a:pPr>
              <a:spcAft>
                <a:spcPts val="1800"/>
              </a:spcAft>
              <a:defRPr sz="2100">
                <a:solidFill>
                  <a:srgbClr val="23272B"/>
                </a:solidFill>
                <a:latin typeface="Aptos"/>
              </a:defRPr>
            </a:pPr>
            <a:r>
              <a:rPr dirty="0"/>
              <a:t>• A knowledge graph represents entities as nodes and their relationships as edges.</a:t>
            </a:r>
          </a:p>
          <a:p>
            <a:pPr>
              <a:spcAft>
                <a:spcPts val="1800"/>
              </a:spcAft>
              <a:defRPr sz="2100">
                <a:solidFill>
                  <a:srgbClr val="23272B"/>
                </a:solidFill>
                <a:latin typeface="Aptos"/>
              </a:defRPr>
            </a:pPr>
            <a:r>
              <a:rPr dirty="0"/>
              <a:t>• Queues can support the background tasks needed to maintain and process this information.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492240"/>
            <a:ext cx="10881360" cy="22860"/>
          </a:xfrm>
          <a:prstGeom prst="rect">
            <a:avLst/>
          </a:prstGeom>
          <a:solidFill>
            <a:srgbClr val="007E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6547104"/>
            <a:ext cx="7772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5A626C"/>
                </a:solidFill>
                <a:latin typeface="Aptos"/>
              </a:rPr>
              <a:t>Graph and Queue Data Structures Working Together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43</TotalTime>
  <Words>1288</Words>
  <Application>Microsoft Macintosh PowerPoint</Application>
  <PresentationFormat>Widescreen</PresentationFormat>
  <Paragraphs>103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Meyer, Dax</cp:lastModifiedBy>
  <cp:revision>4</cp:revision>
  <dcterms:created xsi:type="dcterms:W3CDTF">2013-01-27T09:14:16Z</dcterms:created>
  <dcterms:modified xsi:type="dcterms:W3CDTF">2026-10-21T22:53:14Z</dcterms:modified>
  <cp:category/>
</cp:coreProperties>
</file>