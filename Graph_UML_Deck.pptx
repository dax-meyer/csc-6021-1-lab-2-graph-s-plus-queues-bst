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 snapToObjects="1">
      <p:cViewPr varScale="1">
        <p:scale>
          <a:sx n="114" d="100"/>
          <a:sy n="114" d="100"/>
        </p:scale>
        <p:origin x="9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08:04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0 549 24575,'0'-89'0,"0"0"0,0 25 0,0-35 0,0 9 0,0 63 0,0 10 0,0 6 0,0 2 0,0 0 0,0-2 0,0 0 0,0-1 0,0 5 0,0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08:05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1 636 24575,'0'-19'0,"0"-5"0,0-8 0,0-2 0,0 2 0,0 2 0,0 1 0,0-6 0,0-3 0,0-6 0,0-2 0,0-1 0,0-1 0,0 4 0,0 5 0,0 4 0,0 5 0,0 13 0,0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08:07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10 522 24575,'0'-8'0,"0"-5"0,0-9 0,0-8 0,0-9 0,0-3 0,0 3 0,0 10 0,0 11 0,0 6 0,0-1 0,0-6 0,0-8 0,0-8 0,0-7 0,0 1 0,-2 3 0,-1 8 0,1 15 0,0 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08:08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1 508 24575,'0'-11'0,"0"-5"0,0-3 0,0-2 0,0 0 0,0-1 0,0-5 0,0-4 0,0-1 0,0-1 0,0 1 0,0-2 0,0-1 0,0 5 0,0 5 0,0 9 0,0 2 0,0-3 0,0-1 0,0-2 0,0 2 0,0 9 0,0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08:12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1 24575,'0'7'0,"0"1"0,0 1 0,0-1 0,0 2 0,-2 2 0,-4 4 0,-4 3 0,-4 5 0,-3 1 0,2-1 0,0-1 0,0 1 0,-1 0 0,1 1 0,2-4 0,3-3 0,0-1 0,-4-1 0,-7 2 0,-5 1 0,-4 1 0,3 0 0,6-3 0,9-6 0,10-5 0,9-4 0,4-1 0,2-1 0,1 0 0,1 0 0,1 0 0,1 0 0,2 0 0,4 0 0,4 0 0,0 0 0,-1 0 0,-1 0 0,2 0 0,3 0 0,2 0 0,2 0 0,-1 0 0,-1 0 0,-2 0 0,-3 0 0,-1 0 0,0 0 0,1 0 0,-3 0 0,-2 0 0,-6-1 0,-5-1 0,-2 0 0,4 0 0,10 2 0,9 0 0,5 0 0,-4 0 0,-9 0 0,-9-2 0,-9-1 0,-8-2 0,-6-1 0,-2-1 0,0 0 0,2 0 0,0 1 0,0 1 0,-3 1 0,-1-1 0,-7-2 0,-6-5 0,-10-5 0,-5-3 0,3 0 0,6 2 0,10 5 0,7 3 0,4 1 0,3 2 0,-1-1 0,-3-3 0,-2-2 0,-5-5 0,0-4 0,1 0 0,6 2 0,3 6 0,3 3 0,1 4 0,-2-1 0,0-5 0,-3-4 0,1-4 0,-1 2 0,4 8 0,2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08:17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5EBC-403F-609F-1489-1516787F6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80C86-BE33-D0CE-B0E2-0EE13AC53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F00F5-E2EC-CCE4-8378-86087D07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F5513-1130-0F53-DC02-5E4DEF11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9F9C8-CB75-CEC6-C19C-9272AD54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0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51A4-D45A-0B2D-270C-0C41956F6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596F9-FC8D-2ACD-0272-A849A9A15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378E-A3E6-3C81-7F59-B4828BDD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4F205-0A90-01D3-F54E-ECB4C109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280E1-7984-76C7-1C03-6E45FCFC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0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01B3-7F26-665A-CEAF-D4753FE1D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BF6D9-4BF4-8453-6A6E-5B51D4A30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D56A8-8F65-C9C1-B021-89DEBDFF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1B9C5-7877-6A61-55FD-2AB46DAA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D4EC8-CF15-A8D9-17E7-22644BAD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1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16E15-BF41-D046-9E6B-FB40F308F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2E9-948A-2E86-7834-96400D710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1FD3B-FFD1-F85C-45AE-90A1B1FB1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BBFA5-037D-3969-C203-687FFA08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F05EF-5208-629F-2E18-56DEE08A7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417A5-4407-563C-3E45-14E37E677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0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672C-118B-12D6-FDAB-C871752A0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791D2-2649-9156-3706-8F5FA8363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096C1-9172-88C9-5CF1-F09D15AD9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E9B15-E528-0EDD-EE2F-480B8BB4E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93D0F-8B7B-4330-27B6-985B01E7A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3D6A2-AAC6-C6A9-8FB7-ACD24C0C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3319BF-1E9F-73BA-AAD4-F5DB086D5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EB1D1-D174-E90F-ABDA-71F7D845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909B-1AED-EE94-3D9F-0E07485A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91A6A-26C7-CDD8-4288-2FC04CFF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7D072-2C58-EB51-CE7E-5EBBA568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9DD01-A7D7-4D19-A11D-1C9AC97A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85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315-A3F2-3B51-5FB9-2141C984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7C4B76-2A5D-4103-2E1E-17357A70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09C2B-FAEB-1953-E245-F76C98E8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1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DBBA-A819-425D-B51D-49E1EA91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AEFCD-3F52-55FE-83E6-FD5E88A06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2CCE9-749D-7246-070C-9B32D4676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DA16E-F29D-B604-7B3C-A6A537F6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813B0-75D8-F72A-7455-4C4673F1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5EDC1-5EED-DB7F-C37C-3ACAEE0C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1E35-1EA5-AD0F-EF3B-3EC8790A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A54BC-CAC1-CEFE-BB63-C340F3C879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D54AA-5DA7-3C29-C721-C4C55B1E5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DD278-1C71-2255-1F2E-A714C911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E3D98-6243-0F85-2F7C-A2AFE43A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0EB4F-B048-3DCF-A730-BA5CC4145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3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B095-0B8A-DF27-1751-F30F5A93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19621-5747-C430-EA11-2E0B6FA38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3E5E9-583E-3924-2A9F-DDA54451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02991-4ED3-93F0-C981-6EFF40CE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6CAF6-344E-0C16-C021-9B3F9CCB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F729A-E4FD-BE18-996D-560C00EA5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0376C-D5DB-47D0-70EC-1F4F8D758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A39FB-AAA3-CF88-26D4-151C84AC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F4677-A11A-AD18-8B5F-31EBB3C4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8F0AF-9C61-4E87-57D3-C6DC433BC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9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958D9-BDED-3B80-0559-52A3A7CF1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AA8FB-7AEB-24BB-5C06-931EB293A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8708D-98E3-D9E0-2467-7551D98C1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9BC10-D266-6D0A-9677-B2FD8AC2F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F9373-B1F4-1EBD-B385-E8F5218E3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97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372129" y="548640"/>
            <a:ext cx="4389120" cy="1828800"/>
          </a:xfrm>
          <a:prstGeom prst="rect">
            <a:avLst/>
          </a:prstGeom>
          <a:solidFill>
            <a:srgbClr val="2654A0"/>
          </a:solidFill>
          <a:ln>
            <a:solidFill>
              <a:srgbClr val="26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Graph&lt;</a:t>
            </a:r>
            <a:r>
              <a:rPr lang="en-US" sz="1600" b="1" dirty="0">
                <a:solidFill>
                  <a:srgbClr val="FFFFFF"/>
                </a:solidFill>
              </a:rPr>
              <a:t>GRAPHTYPE</a:t>
            </a:r>
            <a:r>
              <a:rPr sz="1600" b="1" dirty="0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829329" y="4181707"/>
            <a:ext cx="3474720" cy="1645920"/>
          </a:xfrm>
          <a:prstGeom prst="rect">
            <a:avLst/>
          </a:prstGeom>
          <a:solidFill>
            <a:srgbClr val="16825A"/>
          </a:solidFill>
          <a:ln>
            <a:solidFill>
              <a:srgbClr val="1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Path&lt;T&gt;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330968-C087-51B6-9BC5-555023B3CA50}"/>
                  </a:ext>
                </a:extLst>
              </p14:cNvPr>
              <p14:cNvContentPartPr/>
              <p14:nvPr/>
            </p14:nvContentPartPr>
            <p14:xfrm>
              <a:off x="5592530" y="3859402"/>
              <a:ext cx="360" cy="197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330968-C087-51B6-9BC5-555023B3CA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86410" y="3853282"/>
                <a:ext cx="126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AE0AEC-ECAA-7980-8637-B2D1FF47DEA1}"/>
                  </a:ext>
                </a:extLst>
              </p14:cNvPr>
              <p14:cNvContentPartPr/>
              <p14:nvPr/>
            </p14:nvContentPartPr>
            <p14:xfrm>
              <a:off x="5617730" y="3468442"/>
              <a:ext cx="360" cy="228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AE0AEC-ECAA-7980-8637-B2D1FF47DE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1610" y="3462322"/>
                <a:ext cx="126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FF706F-30D4-8C96-8E9D-0ACB162A7556}"/>
                  </a:ext>
                </a:extLst>
              </p14:cNvPr>
              <p14:cNvContentPartPr/>
              <p14:nvPr/>
            </p14:nvContentPartPr>
            <p14:xfrm>
              <a:off x="5614490" y="3101962"/>
              <a:ext cx="3600" cy="188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FF706F-30D4-8C96-8E9D-0ACB162A75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08370" y="3095842"/>
                <a:ext cx="1584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CD4988-1C6F-CE95-2197-946EDC119CA5}"/>
                  </a:ext>
                </a:extLst>
              </p14:cNvPr>
              <p14:cNvContentPartPr/>
              <p14:nvPr/>
            </p14:nvContentPartPr>
            <p14:xfrm>
              <a:off x="5614490" y="2716042"/>
              <a:ext cx="360" cy="182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CD4988-1C6F-CE95-2197-946EDC119CA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08370" y="2709922"/>
                <a:ext cx="1260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63A92C0-28FB-8FBB-FB08-2C4DC734A7D4}"/>
                  </a:ext>
                </a:extLst>
              </p14:cNvPr>
              <p14:cNvContentPartPr/>
              <p14:nvPr/>
            </p14:nvContentPartPr>
            <p14:xfrm>
              <a:off x="5519090" y="2448202"/>
              <a:ext cx="298800" cy="160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63A92C0-28FB-8FBB-FB08-2C4DC734A7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12970" y="2442082"/>
                <a:ext cx="311040" cy="17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96994" y="228600"/>
            <a:ext cx="61987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2654A0"/>
                </a:solidFill>
              </a:rPr>
              <a:t>UML Class Diagram — Graph&lt;</a:t>
            </a:r>
            <a:r>
              <a:rPr lang="en-US" sz="2400" b="1" dirty="0">
                <a:solidFill>
                  <a:srgbClr val="2654A0"/>
                </a:solidFill>
              </a:rPr>
              <a:t>QUEUETYPE</a:t>
            </a:r>
            <a:r>
              <a:rPr sz="2400" b="1" dirty="0">
                <a:solidFill>
                  <a:srgbClr val="2654A0"/>
                </a:solidFill>
              </a:rPr>
              <a:t>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0214" y="1188720"/>
            <a:ext cx="5901225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6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20214" y="1188720"/>
            <a:ext cx="5901225" cy="502920"/>
          </a:xfrm>
          <a:prstGeom prst="rect">
            <a:avLst/>
          </a:prstGeom>
          <a:solidFill>
            <a:srgbClr val="2654A0"/>
          </a:solidFill>
          <a:ln>
            <a:solidFill>
              <a:srgbClr val="26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«template&lt;typename T» Graph&lt;T&gt;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0214" y="1691640"/>
            <a:ext cx="5901225" cy="320040"/>
          </a:xfrm>
          <a:prstGeom prst="rect">
            <a:avLst/>
          </a:prstGeom>
          <a:solidFill>
            <a:srgbClr val="F0F3FC"/>
          </a:solidFill>
          <a:ln>
            <a:solidFill>
              <a:srgbClr val="F0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23285A"/>
                </a:solidFill>
              </a:rPr>
              <a:t>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0214" y="2011680"/>
            <a:ext cx="57524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dirty="0"/>
              <a:t>+ Public</a:t>
            </a:r>
          </a:p>
          <a:p>
            <a:pPr>
              <a:defRPr sz="1200"/>
            </a:pPr>
            <a:r>
              <a:rPr dirty="0"/>
              <a:t>+ Graph(int n) : constructor</a:t>
            </a:r>
          </a:p>
          <a:p>
            <a:pPr>
              <a:defRPr sz="1200"/>
            </a:pPr>
            <a:r>
              <a:rPr dirty="0"/>
              <a:t>+ </a:t>
            </a:r>
            <a:r>
              <a:rPr dirty="0" err="1"/>
              <a:t>add_edge</a:t>
            </a:r>
            <a:r>
              <a:rPr dirty="0"/>
              <a:t>(int u, int v, T weight = T(1)) : void</a:t>
            </a:r>
          </a:p>
          <a:p>
            <a:pPr>
              <a:defRPr sz="1200"/>
            </a:pPr>
            <a:r>
              <a:rPr dirty="0"/>
              <a:t>+ </a:t>
            </a:r>
            <a:r>
              <a:rPr dirty="0" err="1"/>
              <a:t>print_matrix</a:t>
            </a:r>
            <a:r>
              <a:rPr dirty="0"/>
              <a:t>() const : void</a:t>
            </a:r>
          </a:p>
          <a:p>
            <a:pPr>
              <a:defRPr sz="1200"/>
            </a:pPr>
            <a:r>
              <a:rPr dirty="0"/>
              <a:t>+ </a:t>
            </a:r>
            <a:r>
              <a:rPr dirty="0" err="1"/>
              <a:t>bfs_shortest_path</a:t>
            </a:r>
            <a:r>
              <a:rPr dirty="0"/>
              <a:t>(int start, int goal) const : vector&lt;int&gt;</a:t>
            </a:r>
          </a:p>
          <a:p>
            <a:pPr>
              <a:defRPr sz="1200"/>
            </a:pPr>
            <a:endParaRPr dirty="0"/>
          </a:p>
          <a:p>
            <a:pPr>
              <a:defRPr sz="1200"/>
            </a:pPr>
            <a:r>
              <a:rPr dirty="0"/>
              <a:t>- Private</a:t>
            </a:r>
          </a:p>
          <a:p>
            <a:pPr>
              <a:defRPr sz="1200"/>
            </a:pPr>
            <a:r>
              <a:rPr dirty="0"/>
              <a:t>- </a:t>
            </a:r>
            <a:r>
              <a:rPr dirty="0" err="1"/>
              <a:t>adj_matrix</a:t>
            </a:r>
            <a:r>
              <a:rPr dirty="0"/>
              <a:t> : vector&lt;vector&lt;T&gt;&gt;</a:t>
            </a:r>
          </a:p>
          <a:p>
            <a:pPr>
              <a:defRPr sz="1200"/>
            </a:pPr>
            <a:r>
              <a:rPr dirty="0"/>
              <a:t>- </a:t>
            </a:r>
            <a:r>
              <a:rPr dirty="0" err="1"/>
              <a:t>num_vertices</a:t>
            </a:r>
            <a:r>
              <a:rPr dirty="0"/>
              <a:t> : int</a:t>
            </a:r>
          </a:p>
          <a:p>
            <a:pPr>
              <a:defRPr sz="1200"/>
            </a:pPr>
            <a:r>
              <a:rPr dirty="0"/>
              <a:t>- </a:t>
            </a:r>
            <a:r>
              <a:rPr dirty="0" err="1"/>
              <a:t>print_matrix_helper</a:t>
            </a:r>
            <a:r>
              <a:rPr dirty="0"/>
              <a:t>(const vector&lt;vector&lt;T&gt;&gt;&amp;) const : void</a:t>
            </a:r>
          </a:p>
          <a:p>
            <a:pPr>
              <a:defRPr sz="1200"/>
            </a:pPr>
            <a:r>
              <a:rPr dirty="0"/>
              <a:t>- </a:t>
            </a:r>
            <a:r>
              <a:rPr dirty="0" err="1"/>
              <a:t>bfs</a:t>
            </a:r>
            <a:r>
              <a:rPr dirty="0"/>
              <a:t>(const vector&lt;vector&lt;T&gt;&gt;&amp;, int n, int start, int goal) const : vector&lt;int&gt;</a:t>
            </a:r>
          </a:p>
          <a:p>
            <a:pPr>
              <a:defRPr sz="1200"/>
            </a:pPr>
            <a:r>
              <a:rPr dirty="0"/>
              <a:t>- </a:t>
            </a:r>
            <a:r>
              <a:rPr dirty="0" err="1"/>
              <a:t>reconstruct_path</a:t>
            </a:r>
            <a:r>
              <a:rPr dirty="0"/>
              <a:t>(const </a:t>
            </a:r>
            <a:r>
              <a:rPr dirty="0" err="1"/>
              <a:t>unordered_map</a:t>
            </a:r>
            <a:r>
              <a:rPr dirty="0"/>
              <a:t>&lt;</a:t>
            </a:r>
            <a:r>
              <a:rPr dirty="0" err="1"/>
              <a:t>int,int</a:t>
            </a:r>
            <a:r>
              <a:rPr dirty="0"/>
              <a:t>&gt;&amp;, int goal, vector&lt;int&gt;&amp;) const : void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C9DA8E-9888-A5F9-A6BB-296BE52AB32A}"/>
              </a:ext>
            </a:extLst>
          </p:cNvPr>
          <p:cNvSpPr txBox="1"/>
          <p:nvPr/>
        </p:nvSpPr>
        <p:spPr>
          <a:xfrm>
            <a:off x="278781" y="201837"/>
            <a:ext cx="4270721" cy="5678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#</a:t>
            </a:r>
            <a:r>
              <a:rPr lang="en-US" sz="1100" dirty="0" err="1"/>
              <a:t>ifndef</a:t>
            </a:r>
            <a:r>
              <a:rPr lang="en-US" sz="1100" dirty="0"/>
              <a:t> GRAPH_H</a:t>
            </a:r>
          </a:p>
          <a:p>
            <a:r>
              <a:rPr lang="en-US" sz="1100" dirty="0"/>
              <a:t>#define GRAPH_H</a:t>
            </a:r>
          </a:p>
          <a:p>
            <a:endParaRPr lang="en-US" sz="1100" dirty="0"/>
          </a:p>
          <a:p>
            <a:r>
              <a:rPr lang="en-US" sz="1100" dirty="0"/>
              <a:t>#include &lt;vector&gt;</a:t>
            </a:r>
          </a:p>
          <a:p>
            <a:r>
              <a:rPr lang="en-US" sz="1100" dirty="0"/>
              <a:t>#include &lt;</a:t>
            </a:r>
            <a:r>
              <a:rPr lang="en-US" sz="1100" dirty="0" err="1"/>
              <a:t>unordered_map</a:t>
            </a:r>
            <a:r>
              <a:rPr lang="en-US" sz="1100" dirty="0"/>
              <a:t>&gt;</a:t>
            </a:r>
          </a:p>
          <a:p>
            <a:r>
              <a:rPr lang="en-US" sz="1100" dirty="0"/>
              <a:t>using namespace std;</a:t>
            </a:r>
          </a:p>
          <a:p>
            <a:endParaRPr lang="en-US" sz="1100" dirty="0"/>
          </a:p>
          <a:p>
            <a:r>
              <a:rPr lang="en-US" sz="1100" dirty="0"/>
              <a:t>template &lt;</a:t>
            </a:r>
            <a:r>
              <a:rPr lang="en-US" sz="1100" dirty="0" err="1"/>
              <a:t>typename</a:t>
            </a:r>
            <a:r>
              <a:rPr lang="en-US" sz="1100" dirty="0"/>
              <a:t> T&gt;</a:t>
            </a:r>
          </a:p>
          <a:p>
            <a:r>
              <a:rPr lang="en-US" sz="1100" dirty="0"/>
              <a:t>class Graph {</a:t>
            </a:r>
          </a:p>
          <a:p>
            <a:r>
              <a:rPr lang="en-US" sz="1100" dirty="0"/>
              <a:t>    vector&lt;vector&lt;T&gt;&gt; </a:t>
            </a:r>
            <a:r>
              <a:rPr lang="en-US" sz="1100" dirty="0" err="1"/>
              <a:t>adj_matrix</a:t>
            </a:r>
            <a:r>
              <a:rPr lang="en-US" sz="1100" dirty="0"/>
              <a:t>;</a:t>
            </a:r>
          </a:p>
          <a:p>
            <a:r>
              <a:rPr lang="en-US" sz="1100" dirty="0"/>
              <a:t>    int </a:t>
            </a:r>
            <a:r>
              <a:rPr lang="en-US" sz="1100" dirty="0" err="1"/>
              <a:t>num_vertices</a:t>
            </a:r>
            <a:r>
              <a:rPr lang="en-US" sz="1100" dirty="0"/>
              <a:t>;</a:t>
            </a:r>
          </a:p>
          <a:p>
            <a:endParaRPr lang="en-US" sz="1100" dirty="0"/>
          </a:p>
          <a:p>
            <a:r>
              <a:rPr lang="en-US" sz="1100" dirty="0"/>
              <a:t>public:</a:t>
            </a:r>
          </a:p>
          <a:p>
            <a:r>
              <a:rPr lang="en-US" sz="1100" dirty="0"/>
              <a:t>    Graph(int n);</a:t>
            </a:r>
          </a:p>
          <a:p>
            <a:endParaRPr lang="en-US" sz="1100" dirty="0"/>
          </a:p>
          <a:p>
            <a:r>
              <a:rPr lang="en-US" sz="1100" dirty="0"/>
              <a:t>    void </a:t>
            </a:r>
            <a:r>
              <a:rPr lang="en-US" sz="1100" dirty="0" err="1"/>
              <a:t>add_edge</a:t>
            </a:r>
            <a:r>
              <a:rPr lang="en-US" sz="1100" dirty="0"/>
              <a:t>(int u, int v, T weight = T(1));</a:t>
            </a:r>
          </a:p>
          <a:p>
            <a:r>
              <a:rPr lang="en-US" sz="1100" dirty="0"/>
              <a:t>    void </a:t>
            </a:r>
            <a:r>
              <a:rPr lang="en-US" sz="1100" dirty="0" err="1"/>
              <a:t>print_matrix</a:t>
            </a:r>
            <a:r>
              <a:rPr lang="en-US" sz="1100" dirty="0"/>
              <a:t>() const;</a:t>
            </a:r>
          </a:p>
          <a:p>
            <a:r>
              <a:rPr lang="en-US" sz="1100" dirty="0"/>
              <a:t>    vector&lt;int&gt; </a:t>
            </a:r>
            <a:r>
              <a:rPr lang="en-US" sz="1100" dirty="0" err="1"/>
              <a:t>bfs_shortest_path</a:t>
            </a:r>
            <a:r>
              <a:rPr lang="en-US" sz="1100" dirty="0"/>
              <a:t>(int start, int goal) const;</a:t>
            </a:r>
          </a:p>
          <a:p>
            <a:endParaRPr lang="en-US" sz="1100" dirty="0"/>
          </a:p>
          <a:p>
            <a:r>
              <a:rPr lang="en-US" sz="1100" dirty="0"/>
              <a:t>private:</a:t>
            </a:r>
          </a:p>
          <a:p>
            <a:r>
              <a:rPr lang="en-US" sz="1100" dirty="0"/>
              <a:t>    void </a:t>
            </a:r>
            <a:r>
              <a:rPr lang="en-US" sz="1100" dirty="0" err="1"/>
              <a:t>print_matrix_helper</a:t>
            </a:r>
            <a:r>
              <a:rPr lang="en-US" sz="1100" dirty="0"/>
              <a:t>(const vector&lt;vector&lt;T&gt;&gt;&amp; matrix) const;</a:t>
            </a:r>
          </a:p>
          <a:p>
            <a:endParaRPr lang="en-US" sz="1100" dirty="0"/>
          </a:p>
          <a:p>
            <a:r>
              <a:rPr lang="en-US" sz="1100" dirty="0"/>
              <a:t>    vector&lt;int&gt; </a:t>
            </a:r>
            <a:r>
              <a:rPr lang="en-US" sz="1100" dirty="0" err="1"/>
              <a:t>bfs</a:t>
            </a:r>
            <a:r>
              <a:rPr lang="en-US" sz="1100" dirty="0"/>
              <a:t>(const vector&lt;vector&lt;T&gt;&gt;&amp; matrix,</a:t>
            </a:r>
          </a:p>
          <a:p>
            <a:r>
              <a:rPr lang="en-US" sz="1100" dirty="0"/>
              <a:t>                    int n, int start, int goal) const;</a:t>
            </a:r>
          </a:p>
          <a:p>
            <a:endParaRPr lang="en-US" sz="1100" dirty="0"/>
          </a:p>
          <a:p>
            <a:r>
              <a:rPr lang="en-US" sz="1100" dirty="0"/>
              <a:t>    void </a:t>
            </a:r>
            <a:r>
              <a:rPr lang="en-US" sz="1100" dirty="0" err="1"/>
              <a:t>reconstruct_path</a:t>
            </a:r>
            <a:r>
              <a:rPr lang="en-US" sz="1100" dirty="0"/>
              <a:t>(const </a:t>
            </a:r>
            <a:r>
              <a:rPr lang="en-US" sz="1100" dirty="0" err="1"/>
              <a:t>unordered_map</a:t>
            </a:r>
            <a:r>
              <a:rPr lang="en-US" sz="1100" dirty="0"/>
              <a:t>&lt;int, int&gt;&amp; parent,</a:t>
            </a:r>
          </a:p>
          <a:p>
            <a:r>
              <a:rPr lang="en-US" sz="1100" dirty="0"/>
              <a:t>                          int goal,</a:t>
            </a:r>
          </a:p>
          <a:p>
            <a:r>
              <a:rPr lang="en-US" sz="1100" dirty="0"/>
              <a:t>                          vector&lt;int&gt;&amp; path) const;</a:t>
            </a:r>
          </a:p>
          <a:p>
            <a:r>
              <a:rPr lang="en-US" sz="1100" dirty="0"/>
              <a:t>};</a:t>
            </a:r>
          </a:p>
          <a:p>
            <a:endParaRPr lang="en-US" sz="1100" dirty="0"/>
          </a:p>
          <a:p>
            <a:r>
              <a:rPr lang="en-US" sz="1100" dirty="0"/>
              <a:t>#include "</a:t>
            </a:r>
            <a:r>
              <a:rPr lang="en-US" sz="1100" dirty="0" err="1"/>
              <a:t>Graph.cpp</a:t>
            </a:r>
            <a:r>
              <a:rPr lang="en-US" sz="1100" dirty="0"/>
              <a:t>"</a:t>
            </a:r>
          </a:p>
          <a:p>
            <a:endParaRPr lang="en-US" sz="1100" dirty="0"/>
          </a:p>
          <a:p>
            <a:r>
              <a:rPr lang="en-US" sz="1100" dirty="0"/>
              <a:t>#endif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67468" y="228600"/>
            <a:ext cx="48282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16825A"/>
                </a:solidFill>
              </a:rPr>
              <a:t>UML Class Diagram — Path&lt;T&gt;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6924906" y="1188720"/>
            <a:ext cx="4596533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24906" y="1188720"/>
            <a:ext cx="4596533" cy="502920"/>
          </a:xfrm>
          <a:prstGeom prst="rect">
            <a:avLst/>
          </a:prstGeom>
          <a:solidFill>
            <a:srgbClr val="16825A"/>
          </a:solidFill>
          <a:ln>
            <a:solidFill>
              <a:srgbClr val="1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Path&lt;T&gt;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924906" y="1783080"/>
            <a:ext cx="4596533" cy="320040"/>
          </a:xfrm>
          <a:prstGeom prst="rect">
            <a:avLst/>
          </a:prstGeom>
          <a:solidFill>
            <a:srgbClr val="F0F3FC"/>
          </a:solidFill>
          <a:ln>
            <a:solidFill>
              <a:srgbClr val="F0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85A"/>
                </a:solidFill>
              </a:rPr>
              <a:t>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626" y="2514600"/>
            <a:ext cx="4480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dirty="0"/>
              <a:t>+ Public (Free Function)</a:t>
            </a:r>
          </a:p>
          <a:p>
            <a:pPr>
              <a:defRPr sz="1200"/>
            </a:pPr>
            <a:r>
              <a:rPr dirty="0"/>
              <a:t>+ </a:t>
            </a:r>
            <a:r>
              <a:rPr dirty="0" err="1"/>
              <a:t>print_path</a:t>
            </a:r>
            <a:r>
              <a:rPr dirty="0"/>
              <a:t>(const vector&lt;T&gt;&amp; path) : void</a:t>
            </a:r>
          </a:p>
          <a:p>
            <a:pPr>
              <a:defRPr sz="1200"/>
            </a:pP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6D78DB7-79CD-7FE3-F711-F37B883D059F}"/>
                  </a:ext>
                </a:extLst>
              </p14:cNvPr>
              <p14:cNvContentPartPr/>
              <p14:nvPr/>
            </p14:nvContentPartPr>
            <p14:xfrm>
              <a:off x="11189810" y="523282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6D78DB7-79CD-7FE3-F711-F37B883D05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83690" y="51716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4FAE258-9A55-DC59-4867-876F667BE4B0}"/>
              </a:ext>
            </a:extLst>
          </p:cNvPr>
          <p:cNvSpPr txBox="1"/>
          <p:nvPr/>
        </p:nvSpPr>
        <p:spPr>
          <a:xfrm>
            <a:off x="393066" y="544474"/>
            <a:ext cx="410413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</a:t>
            </a:r>
            <a:r>
              <a:rPr lang="en-US" dirty="0" err="1"/>
              <a:t>ifndef</a:t>
            </a:r>
            <a:r>
              <a:rPr lang="en-US" dirty="0"/>
              <a:t> PATH_H</a:t>
            </a:r>
          </a:p>
          <a:p>
            <a:r>
              <a:rPr lang="en-US" dirty="0"/>
              <a:t>#define PATH_H</a:t>
            </a:r>
          </a:p>
          <a:p>
            <a:endParaRPr lang="en-US" dirty="0"/>
          </a:p>
          <a:p>
            <a:r>
              <a:rPr lang="en-US" dirty="0"/>
              <a:t>#include &lt;vector&gt;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template &lt;</a:t>
            </a:r>
            <a:r>
              <a:rPr lang="en-US" dirty="0" err="1"/>
              <a:t>typename</a:t>
            </a:r>
            <a:r>
              <a:rPr lang="en-US" dirty="0"/>
              <a:t> T&gt;</a:t>
            </a:r>
          </a:p>
          <a:p>
            <a:r>
              <a:rPr lang="en-US" dirty="0"/>
              <a:t>void </a:t>
            </a:r>
            <a:r>
              <a:rPr lang="en-US" dirty="0" err="1"/>
              <a:t>print_path</a:t>
            </a:r>
            <a:r>
              <a:rPr lang="en-US" dirty="0"/>
              <a:t>(const vector&lt;T&gt;&amp; path);</a:t>
            </a:r>
          </a:p>
          <a:p>
            <a:endParaRPr lang="en-US" dirty="0"/>
          </a:p>
          <a:p>
            <a:r>
              <a:rPr lang="en-US" dirty="0"/>
              <a:t>#include "</a:t>
            </a:r>
            <a:r>
              <a:rPr lang="en-US" dirty="0" err="1"/>
              <a:t>Path.cpp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#endif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441</Words>
  <Application>Microsoft Macintosh PowerPoint</Application>
  <PresentationFormat>Custom</PresentationFormat>
  <Paragraphs>68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Meyer, Dax</cp:lastModifiedBy>
  <cp:revision>4</cp:revision>
  <dcterms:created xsi:type="dcterms:W3CDTF">2013-01-27T09:14:16Z</dcterms:created>
  <dcterms:modified xsi:type="dcterms:W3CDTF">2026-10-22T23:11:01Z</dcterms:modified>
  <cp:category/>
</cp:coreProperties>
</file>